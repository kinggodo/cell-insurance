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558701" y="457200"/>
            <a:ext cx="8186827" cy="190500"/>
          </a:xfrm>
          <a:prstGeom prst="rect">
            <a:avLst/>
          </a:prstGeom>
          <a:noFill/>
          <a:ln/>
        </p:spPr>
        <p:txBody>
          <a:bodyPr wrap="square" lIns="0" tIns="0" rIns="0" bIns="0" rtlCol="0" anchor="t"/>
          <a:lstStyle/>
          <a:p>
            <a:pPr algn="l" indent="0" marL="0">
              <a:buNone/>
            </a:pPr>
            <a:r>
              <a:rPr lang="en-US" sz="1200" b="1" dirty="0">
                <a:solidFill>
                  <a:srgbClr val="EBC831"/>
                </a:solidFill>
                <a:latin typeface="Instrument Sans" pitchFamily="34" charset="0"/>
                <a:ea typeface="Instrument Sans" pitchFamily="34" charset="-122"/>
                <a:cs typeface="Instrument Sans" pitchFamily="34" charset="-120"/>
              </a:rPr>
              <a:t>CUSTOMERIQ</a:t>
            </a:r>
            <a:endParaRPr lang="en-US" sz="1200" dirty="0"/>
          </a:p>
        </p:txBody>
      </p:sp>
      <p:sp>
        <p:nvSpPr>
          <p:cNvPr id="3" name="Text 1"/>
          <p:cNvSpPr/>
          <p:nvPr/>
        </p:nvSpPr>
        <p:spPr>
          <a:xfrm>
            <a:off x="558701" y="2160836"/>
            <a:ext cx="8186827" cy="533251"/>
          </a:xfrm>
          <a:prstGeom prst="rect">
            <a:avLst/>
          </a:prstGeom>
          <a:noFill/>
          <a:ln/>
        </p:spPr>
        <p:txBody>
          <a:bodyPr wrap="square" lIns="0" tIns="0" rIns="0" bIns="0" rtlCol="0" anchor="t"/>
          <a:lstStyle/>
          <a:p>
            <a:pPr algn="l" indent="0" marL="0">
              <a:lnSpc>
                <a:spcPts val="4200"/>
              </a:lnSpc>
              <a:buNone/>
            </a:pPr>
            <a:r>
              <a:rPr lang="en-US" sz="4000" b="1" dirty="0">
                <a:solidFill>
                  <a:srgbClr val="F6F4EB"/>
                </a:solidFill>
                <a:latin typeface="Instrument Sans" pitchFamily="34" charset="0"/>
                <a:ea typeface="Instrument Sans" pitchFamily="34" charset="-122"/>
                <a:cs typeface="Instrument Sans" pitchFamily="34" charset="-120"/>
              </a:rPr>
              <a:t>Keep the client you already have.</a:t>
            </a:r>
            <a:endParaRPr lang="en-US" sz="4000" dirty="0"/>
          </a:p>
        </p:txBody>
      </p:sp>
      <p:sp>
        <p:nvSpPr>
          <p:cNvPr id="4" name="Text 2"/>
          <p:cNvSpPr/>
          <p:nvPr/>
        </p:nvSpPr>
        <p:spPr>
          <a:xfrm>
            <a:off x="558701" y="2871788"/>
            <a:ext cx="8186827" cy="276225"/>
          </a:xfrm>
          <a:prstGeom prst="rect">
            <a:avLst/>
          </a:prstGeom>
          <a:noFill/>
          <a:ln/>
        </p:spPr>
        <p:txBody>
          <a:bodyPr wrap="square" lIns="0" tIns="0" rIns="0" bIns="0" rtlCol="0" anchor="t"/>
          <a:lstStyle/>
          <a:p>
            <a:pPr algn="l" indent="0" marL="0">
              <a:spcBef>
                <a:spcPts val="1400"/>
              </a:spcBef>
              <a:buNone/>
            </a:pPr>
            <a:r>
              <a:rPr lang="en-US" sz="1800" dirty="0">
                <a:solidFill>
                  <a:srgbClr val="EADEB2"/>
                </a:solidFill>
                <a:latin typeface="Instrument Sans" pitchFamily="34" charset="0"/>
                <a:ea typeface="Instrument Sans" pitchFamily="34" charset="-122"/>
                <a:cs typeface="Instrument Sans" pitchFamily="34" charset="-120"/>
              </a:rPr>
              <a:t>Profile them early. Intervene before they leave.</a:t>
            </a:r>
            <a:endParaRPr lang="en-US" sz="1800" dirty="0"/>
          </a:p>
        </p:txBody>
      </p:sp>
      <p:sp>
        <p:nvSpPr>
          <p:cNvPr id="5" name="Text 3"/>
          <p:cNvSpPr/>
          <p:nvPr/>
        </p:nvSpPr>
        <p:spPr>
          <a:xfrm>
            <a:off x="558701" y="4660999"/>
            <a:ext cx="812750" cy="76200"/>
          </a:xfrm>
          <a:prstGeom prst="roundRect">
            <a:avLst>
              <a:gd name="adj" fmla="val 50000"/>
            </a:avLst>
          </a:prstGeom>
          <a:solidFill>
            <a:srgbClr val="EBC831"/>
          </a:solidFill>
          <a:ln/>
        </p:spPr>
        <p:txBody>
          <a:bodyPr wrap="square" rtlCol="0" anchor="ct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B"/>
        </a:solidFill>
      </p:bgPr>
    </p:bg>
    <p:spTree>
      <p:nvGrpSpPr>
        <p:cNvPr id="1" name=""/>
        <p:cNvGrpSpPr/>
        <p:nvPr/>
      </p:nvGrpSpPr>
      <p:grpSpPr>
        <a:xfrm>
          <a:off x="0" y="0"/>
          <a:ext cx="0" cy="0"/>
          <a:chOff x="0" y="0"/>
          <a:chExt cx="0" cy="0"/>
        </a:xfrm>
      </p:grpSpPr>
      <p:sp>
        <p:nvSpPr>
          <p:cNvPr id="2" name="Text 0"/>
          <p:cNvSpPr/>
          <p:nvPr/>
        </p:nvSpPr>
        <p:spPr>
          <a:xfrm>
            <a:off x="507950" y="406301"/>
            <a:ext cx="8290509" cy="171450"/>
          </a:xfrm>
          <a:prstGeom prst="rect">
            <a:avLst/>
          </a:prstGeom>
          <a:noFill/>
          <a:ln/>
        </p:spPr>
        <p:txBody>
          <a:bodyPr wrap="square" lIns="0" tIns="0" rIns="0" bIns="0" rtlCol="0" anchor="t"/>
          <a:lstStyle/>
          <a:p>
            <a:pPr algn="l" indent="0" marL="0">
              <a:spcAft>
                <a:spcPts val="800"/>
              </a:spcAft>
              <a:buNone/>
            </a:pPr>
            <a:r>
              <a:rPr lang="en-US" sz="1100" b="1" dirty="0">
                <a:solidFill>
                  <a:srgbClr val="534C41"/>
                </a:solidFill>
                <a:latin typeface="Instrument Sans" pitchFamily="34" charset="0"/>
                <a:ea typeface="Instrument Sans" pitchFamily="34" charset="-122"/>
                <a:cs typeface="Instrument Sans" pitchFamily="34" charset="-120"/>
              </a:rPr>
              <a:t>PROBLEM</a:t>
            </a:r>
            <a:endParaRPr lang="en-US" sz="1100" dirty="0"/>
          </a:p>
        </p:txBody>
      </p:sp>
      <p:sp>
        <p:nvSpPr>
          <p:cNvPr id="3" name="Text 1"/>
          <p:cNvSpPr/>
          <p:nvPr/>
        </p:nvSpPr>
        <p:spPr>
          <a:xfrm>
            <a:off x="507950" y="679252"/>
            <a:ext cx="8290509" cy="428625"/>
          </a:xfrm>
          <a:prstGeom prst="rect">
            <a:avLst/>
          </a:prstGeom>
          <a:noFill/>
          <a:ln/>
        </p:spPr>
        <p:txBody>
          <a:bodyPr wrap="square" lIns="0" tIns="0" rIns="0" bIns="0" rtlCol="0" anchor="t"/>
          <a:lstStyle/>
          <a:p>
            <a:pPr algn="l" indent="0" marL="0">
              <a:spcAft>
                <a:spcPts val="1600"/>
              </a:spcAft>
              <a:buNone/>
            </a:pPr>
            <a:r>
              <a:rPr lang="en-US" sz="2800" b="1" dirty="0">
                <a:solidFill>
                  <a:srgbClr val="121212"/>
                </a:solidFill>
                <a:latin typeface="Instrument Sans" pitchFamily="34" charset="0"/>
                <a:ea typeface="Instrument Sans" pitchFamily="34" charset="-122"/>
                <a:cs typeface="Instrument Sans" pitchFamily="34" charset="-120"/>
              </a:rPr>
              <a:t>Losing a client costs more than keeping one.</a:t>
            </a:r>
            <a:endParaRPr lang="en-US" sz="2800" dirty="0"/>
          </a:p>
        </p:txBody>
      </p:sp>
      <p:sp>
        <p:nvSpPr>
          <p:cNvPr id="4" name="Text 2"/>
          <p:cNvSpPr/>
          <p:nvPr/>
        </p:nvSpPr>
        <p:spPr>
          <a:xfrm>
            <a:off x="507950" y="1311027"/>
            <a:ext cx="609600" cy="63401"/>
          </a:xfrm>
          <a:prstGeom prst="roundRect">
            <a:avLst>
              <a:gd name="adj" fmla="val 60094"/>
            </a:avLst>
          </a:prstGeom>
          <a:solidFill>
            <a:srgbClr val="EBC831"/>
          </a:solidFill>
          <a:ln/>
        </p:spPr>
        <p:txBody>
          <a:bodyPr wrap="square" rtlCol="0" anchor="ctr"/>
          <a:lstStyle/>
          <a:p>
            <a:pPr indent="0" marL="0">
              <a:buNone/>
            </a:pPr>
            <a:endParaRPr lang="en-US" dirty="0"/>
          </a:p>
        </p:txBody>
      </p:sp>
      <p:sp>
        <p:nvSpPr>
          <p:cNvPr id="5" name="Text 3"/>
          <p:cNvSpPr/>
          <p:nvPr/>
        </p:nvSpPr>
        <p:spPr>
          <a:xfrm>
            <a:off x="507950" y="1603028"/>
            <a:ext cx="8290509" cy="1800225"/>
          </a:xfrm>
          <a:prstGeom prst="rect">
            <a:avLst/>
          </a:prstGeom>
          <a:noFill/>
          <a:ln/>
        </p:spPr>
        <p:txBody>
          <a:bodyPr wrap="square" lIns="0" tIns="0" rIns="0" bIns="0" rtlCol="0" anchor="t"/>
          <a:lstStyle/>
          <a:p>
            <a:pPr algn="l" indent="0" marL="0">
              <a:lnSpc>
                <a:spcPts val="2025"/>
              </a:lnSpc>
              <a:buNone/>
            </a:pPr>
            <a:r>
              <a:rPr lang="en-US" sz="1500" dirty="0">
                <a:solidFill>
                  <a:srgbClr val="121212"/>
                </a:solidFill>
                <a:latin typeface="Instrument Sans" pitchFamily="34" charset="0"/>
                <a:ea typeface="Instrument Sans" pitchFamily="34" charset="-122"/>
                <a:cs typeface="Instrument Sans" pitchFamily="34" charset="-120"/>
              </a:rPr>
              <a:t>Winning a new client costs more than keeping one Cell already has. The book still loses people because there is no profile that shows who is worth keeping and who is starting to leave, and no intervention that reaches them before they go. A lapse is the expensive end of the story: replacing that client means finding, convincing, and onboarding someone new. The cheaper action is a timely offer while they are still a client. Without a profile of value and of risk, everyone looks the same until they have already left, and a call after they are gone is not retention.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B"/>
        </a:solidFill>
      </p:bgPr>
    </p:bg>
    <p:spTree>
      <p:nvGrpSpPr>
        <p:cNvPr id="1" name=""/>
        <p:cNvGrpSpPr/>
        <p:nvPr/>
      </p:nvGrpSpPr>
      <p:grpSpPr>
        <a:xfrm>
          <a:off x="0" y="0"/>
          <a:ext cx="0" cy="0"/>
          <a:chOff x="0" y="0"/>
          <a:chExt cx="0" cy="0"/>
        </a:xfrm>
      </p:grpSpPr>
      <p:sp>
        <p:nvSpPr>
          <p:cNvPr id="2" name="Text 0"/>
          <p:cNvSpPr/>
          <p:nvPr/>
        </p:nvSpPr>
        <p:spPr>
          <a:xfrm>
            <a:off x="507950" y="406301"/>
            <a:ext cx="8290509" cy="171450"/>
          </a:xfrm>
          <a:prstGeom prst="rect">
            <a:avLst/>
          </a:prstGeom>
          <a:noFill/>
          <a:ln/>
        </p:spPr>
        <p:txBody>
          <a:bodyPr wrap="square" lIns="0" tIns="0" rIns="0" bIns="0" rtlCol="0" anchor="t"/>
          <a:lstStyle/>
          <a:p>
            <a:pPr algn="l" indent="0" marL="0">
              <a:spcAft>
                <a:spcPts val="800"/>
              </a:spcAft>
              <a:buNone/>
            </a:pPr>
            <a:r>
              <a:rPr lang="en-US" sz="1100" b="1" dirty="0">
                <a:solidFill>
                  <a:srgbClr val="534C41"/>
                </a:solidFill>
                <a:latin typeface="Instrument Sans" pitchFamily="34" charset="0"/>
                <a:ea typeface="Instrument Sans" pitchFamily="34" charset="-122"/>
                <a:cs typeface="Instrument Sans" pitchFamily="34" charset="-120"/>
              </a:rPr>
              <a:t>SOLUTION</a:t>
            </a:r>
            <a:endParaRPr lang="en-US" sz="1100" dirty="0"/>
          </a:p>
        </p:txBody>
      </p:sp>
      <p:sp>
        <p:nvSpPr>
          <p:cNvPr id="3" name="Text 1"/>
          <p:cNvSpPr/>
          <p:nvPr/>
        </p:nvSpPr>
        <p:spPr>
          <a:xfrm>
            <a:off x="507950" y="679252"/>
            <a:ext cx="8290509" cy="857250"/>
          </a:xfrm>
          <a:prstGeom prst="rect">
            <a:avLst/>
          </a:prstGeom>
          <a:noFill/>
          <a:ln/>
        </p:spPr>
        <p:txBody>
          <a:bodyPr wrap="square" lIns="0" tIns="0" rIns="0" bIns="0" rtlCol="0" anchor="t"/>
          <a:lstStyle/>
          <a:p>
            <a:pPr algn="l" indent="0" marL="0">
              <a:spcAft>
                <a:spcPts val="1200"/>
              </a:spcAft>
              <a:buNone/>
            </a:pPr>
            <a:r>
              <a:rPr lang="en-US" sz="2800" b="1" dirty="0">
                <a:solidFill>
                  <a:srgbClr val="121212"/>
                </a:solidFill>
                <a:latin typeface="Instrument Sans" pitchFamily="34" charset="0"/>
                <a:ea typeface="Instrument Sans" pitchFamily="34" charset="-122"/>
                <a:cs typeface="Instrument Sans" pitchFamily="34" charset="-120"/>
              </a:rPr>
              <a:t>Profile the client, then act while they are still here.</a:t>
            </a:r>
            <a:endParaRPr lang="en-US" sz="2800" dirty="0"/>
          </a:p>
        </p:txBody>
      </p:sp>
      <p:sp>
        <p:nvSpPr>
          <p:cNvPr id="4" name="Text 2"/>
          <p:cNvSpPr/>
          <p:nvPr/>
        </p:nvSpPr>
        <p:spPr>
          <a:xfrm>
            <a:off x="507950" y="1688902"/>
            <a:ext cx="609600" cy="63401"/>
          </a:xfrm>
          <a:prstGeom prst="roundRect">
            <a:avLst>
              <a:gd name="adj" fmla="val 60094"/>
            </a:avLst>
          </a:prstGeom>
          <a:solidFill>
            <a:srgbClr val="EBC831"/>
          </a:solidFill>
          <a:ln/>
        </p:spPr>
        <p:txBody>
          <a:bodyPr wrap="square" rtlCol="0" anchor="ctr"/>
          <a:lstStyle/>
          <a:p>
            <a:pPr indent="0" marL="0">
              <a:buNone/>
            </a:pPr>
            <a:endParaRPr lang="en-US" dirty="0"/>
          </a:p>
        </p:txBody>
      </p:sp>
      <p:sp>
        <p:nvSpPr>
          <p:cNvPr id="5" name="Text 3"/>
          <p:cNvSpPr/>
          <p:nvPr/>
        </p:nvSpPr>
        <p:spPr>
          <a:xfrm>
            <a:off x="507950" y="1930003"/>
            <a:ext cx="8290509" cy="495300"/>
          </a:xfrm>
          <a:prstGeom prst="rect">
            <a:avLst/>
          </a:prstGeom>
          <a:noFill/>
          <a:ln/>
        </p:spPr>
        <p:txBody>
          <a:bodyPr wrap="square" lIns="0" tIns="0" rIns="0" bIns="0" rtlCol="0" anchor="t"/>
          <a:lstStyle/>
          <a:p>
            <a:pPr algn="l" indent="0" marL="0">
              <a:lnSpc>
                <a:spcPts val="1950"/>
              </a:lnSpc>
              <a:spcAft>
                <a:spcPts val="1200"/>
              </a:spcAft>
              <a:buNone/>
            </a:pPr>
            <a:r>
              <a:rPr lang="en-US" sz="1500" dirty="0">
                <a:solidFill>
                  <a:srgbClr val="121212"/>
                </a:solidFill>
                <a:latin typeface="Instrument Sans" pitchFamily="34" charset="0"/>
                <a:ea typeface="Instrument Sans" pitchFamily="34" charset="-122"/>
                <a:cs typeface="Instrument Sans" pitchFamily="34" charset="-120"/>
              </a:rPr>
              <a:t>CustomerIQ scores every client on value and on risk, and sends a retention plan the moment those figures match a rule that was set first.</a:t>
            </a:r>
            <a:endParaRPr lang="en-US" sz="1500" dirty="0"/>
          </a:p>
        </p:txBody>
      </p:sp>
      <p:sp>
        <p:nvSpPr>
          <p:cNvPr id="6" name="Text 4"/>
          <p:cNvSpPr/>
          <p:nvPr/>
        </p:nvSpPr>
        <p:spPr>
          <a:xfrm>
            <a:off x="507950" y="2577703"/>
            <a:ext cx="8127950" cy="1460153"/>
          </a:xfrm>
          <a:prstGeom prst="rect">
            <a:avLst/>
          </a:prstGeom>
          <a:noFill/>
          <a:ln/>
        </p:spPr>
        <p:txBody>
          <a:bodyPr wrap="square" lIns="114300" tIns="0" rIns="0" bIns="0" rtlCol="0" anchor="t"/>
          <a:lstStyle/>
          <a:p>
            <a:pPr algn="l" marL="114300" indent="-114300">
              <a:lnSpc>
                <a:spcPts val="1820"/>
              </a:lnSpc>
              <a:spcAft>
                <a:spcPts val="800"/>
              </a:spcAft>
              <a:buSzPct val="100000"/>
              <a:buChar char="•"/>
            </a:pPr>
            <a:r>
              <a:rPr lang="en-US" sz="1400" dirty="0">
                <a:solidFill>
                  <a:srgbClr val="121212"/>
                </a:solidFill>
                <a:latin typeface="Instrument Sans" pitchFamily="34" charset="0"/>
                <a:ea typeface="Instrument Sans" pitchFamily="34" charset="-122"/>
                <a:cs typeface="Instrument Sans" pitchFamily="34" charset="-120"/>
              </a:rPr>
              <a:t>Build a profile that shows what the client is worth and how close they are to leaving.</a:t>
            </a:r>
            <a:endParaRPr lang="en-US" sz="1400" dirty="0"/>
          </a:p>
          <a:p>
            <a:pPr algn="l" marL="114300" indent="-114300">
              <a:lnSpc>
                <a:spcPts val="1820"/>
              </a:lnSpc>
              <a:spcAft>
                <a:spcPts val="800"/>
              </a:spcAft>
              <a:buSzPct val="100000"/>
              <a:buChar char="•"/>
            </a:pPr>
            <a:r>
              <a:rPr lang="en-US" sz="1400" dirty="0">
                <a:solidFill>
                  <a:srgbClr val="121212"/>
                </a:solidFill>
                <a:latin typeface="Instrument Sans" pitchFamily="34" charset="0"/>
                <a:ea typeface="Instrument Sans" pitchFamily="34" charset="-122"/>
                <a:cs typeface="Instrument Sans" pitchFamily="34" charset="-120"/>
              </a:rPr>
              <a:t>Intervene before a lapse or a cancellation, while keeping them is still cheaper than replacing them.</a:t>
            </a:r>
            <a:endParaRPr lang="en-US" sz="1400" dirty="0"/>
          </a:p>
          <a:p>
            <a:pPr algn="l" marL="114300" indent="-114300">
              <a:lnSpc>
                <a:spcPts val="1820"/>
              </a:lnSpc>
              <a:spcAft>
                <a:spcPts val="800"/>
              </a:spcAft>
              <a:buSzPct val="100000"/>
              <a:buChar char="•"/>
            </a:pPr>
            <a:r>
              <a:rPr lang="en-US" sz="1400" dirty="0">
                <a:solidFill>
                  <a:srgbClr val="121212"/>
                </a:solidFill>
                <a:latin typeface="Instrument Sans" pitchFamily="34" charset="0"/>
                <a:ea typeface="Instrument Sans" pitchFamily="34" charset="-122"/>
                <a:cs typeface="Instrument Sans" pitchFamily="34" charset="-120"/>
              </a:rPr>
              <a:t>Hold each plan until a rule sets the value and risk a client must meet.</a:t>
            </a:r>
            <a:endParaRPr lang="en-US" sz="1400" dirty="0"/>
          </a:p>
          <a:p>
            <a:pPr algn="l" marL="114300" indent="-114300">
              <a:lnSpc>
                <a:spcPts val="1820"/>
              </a:lnSpc>
              <a:spcAft>
                <a:spcPts val="800"/>
              </a:spcAft>
              <a:buSzPct val="100000"/>
              <a:buChar char="•"/>
            </a:pPr>
            <a:r>
              <a:rPr lang="en-US" sz="1400" dirty="0">
                <a:solidFill>
                  <a:srgbClr val="121212"/>
                </a:solidFill>
                <a:latin typeface="Instrument Sans" pitchFamily="34" charset="0"/>
                <a:ea typeface="Instrument Sans" pitchFamily="34" charset="-122"/>
                <a:cs typeface="Instrument Sans" pitchFamily="34" charset="-120"/>
              </a:rPr>
              <a:t>Put a cost on the plan, and send it by SMS, email, socials, marketing, customer service, or the portal.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B"/>
        </a:solidFill>
      </p:bgPr>
    </p:bg>
    <p:spTree>
      <p:nvGrpSpPr>
        <p:cNvPr id="1" name=""/>
        <p:cNvGrpSpPr/>
        <p:nvPr/>
      </p:nvGrpSpPr>
      <p:grpSpPr>
        <a:xfrm>
          <a:off x="0" y="0"/>
          <a:ext cx="0" cy="0"/>
          <a:chOff x="0" y="0"/>
          <a:chExt cx="0" cy="0"/>
        </a:xfrm>
      </p:grpSpPr>
      <p:sp>
        <p:nvSpPr>
          <p:cNvPr id="2" name="Text 0"/>
          <p:cNvSpPr/>
          <p:nvPr/>
        </p:nvSpPr>
        <p:spPr>
          <a:xfrm>
            <a:off x="507950" y="355550"/>
            <a:ext cx="8290509" cy="171450"/>
          </a:xfrm>
          <a:prstGeom prst="rect">
            <a:avLst/>
          </a:prstGeom>
          <a:noFill/>
          <a:ln/>
        </p:spPr>
        <p:txBody>
          <a:bodyPr wrap="square" lIns="0" tIns="0" rIns="0" bIns="0" rtlCol="0" anchor="t"/>
          <a:lstStyle/>
          <a:p>
            <a:pPr algn="l" indent="0" marL="0">
              <a:spcAft>
                <a:spcPts val="600"/>
              </a:spcAft>
              <a:buNone/>
            </a:pPr>
            <a:r>
              <a:rPr lang="en-US" sz="1100" b="1" dirty="0">
                <a:solidFill>
                  <a:srgbClr val="534C41"/>
                </a:solidFill>
                <a:latin typeface="Instrument Sans" pitchFamily="34" charset="0"/>
                <a:ea typeface="Instrument Sans" pitchFamily="34" charset="-122"/>
                <a:cs typeface="Instrument Sans" pitchFamily="34" charset="-120"/>
              </a:rPr>
              <a:t>RISK</a:t>
            </a:r>
            <a:endParaRPr lang="en-US" sz="1100" dirty="0"/>
          </a:p>
        </p:txBody>
      </p:sp>
      <p:sp>
        <p:nvSpPr>
          <p:cNvPr id="3" name="Text 1"/>
          <p:cNvSpPr/>
          <p:nvPr/>
        </p:nvSpPr>
        <p:spPr>
          <a:xfrm>
            <a:off x="507950" y="603200"/>
            <a:ext cx="8290509" cy="428625"/>
          </a:xfrm>
          <a:prstGeom prst="rect">
            <a:avLst/>
          </a:prstGeom>
          <a:noFill/>
          <a:ln/>
        </p:spPr>
        <p:txBody>
          <a:bodyPr wrap="square" lIns="0" tIns="0" rIns="0" bIns="0" rtlCol="0" anchor="t"/>
          <a:lstStyle/>
          <a:p>
            <a:pPr algn="l" indent="0" marL="0">
              <a:spcAft>
                <a:spcPts val="1000"/>
              </a:spcAft>
              <a:buNone/>
            </a:pPr>
            <a:r>
              <a:rPr lang="en-US" sz="2800" b="1" dirty="0">
                <a:solidFill>
                  <a:srgbClr val="121212"/>
                </a:solidFill>
                <a:latin typeface="Instrument Sans" pitchFamily="34" charset="0"/>
                <a:ea typeface="Instrument Sans" pitchFamily="34" charset="-122"/>
                <a:cs typeface="Instrument Sans" pitchFamily="34" charset="-120"/>
              </a:rPr>
              <a:t>How close they are to leaving.</a:t>
            </a:r>
            <a:endParaRPr lang="en-US" sz="2800" dirty="0"/>
          </a:p>
        </p:txBody>
      </p:sp>
      <p:sp>
        <p:nvSpPr>
          <p:cNvPr id="4" name="Text 2"/>
          <p:cNvSpPr/>
          <p:nvPr/>
        </p:nvSpPr>
        <p:spPr>
          <a:xfrm>
            <a:off x="507950" y="1158776"/>
            <a:ext cx="609600" cy="63401"/>
          </a:xfrm>
          <a:prstGeom prst="roundRect">
            <a:avLst>
              <a:gd name="adj" fmla="val 60094"/>
            </a:avLst>
          </a:prstGeom>
          <a:solidFill>
            <a:srgbClr val="EBC831"/>
          </a:solidFill>
          <a:ln/>
        </p:spPr>
        <p:txBody>
          <a:bodyPr wrap="square" rtlCol="0" anchor="ctr"/>
          <a:lstStyle/>
          <a:p>
            <a:pPr indent="0" marL="0">
              <a:buNone/>
            </a:pPr>
            <a:endParaRPr lang="en-US" dirty="0"/>
          </a:p>
        </p:txBody>
      </p:sp>
      <p:sp>
        <p:nvSpPr>
          <p:cNvPr id="5" name="Text 3"/>
          <p:cNvSpPr/>
          <p:nvPr/>
        </p:nvSpPr>
        <p:spPr>
          <a:xfrm>
            <a:off x="507950" y="1374577"/>
            <a:ext cx="8290509" cy="462260"/>
          </a:xfrm>
          <a:prstGeom prst="rect">
            <a:avLst/>
          </a:prstGeom>
          <a:noFill/>
          <a:ln/>
        </p:spPr>
        <p:txBody>
          <a:bodyPr wrap="square" lIns="0" tIns="0" rIns="0" bIns="0" rtlCol="0" anchor="t"/>
          <a:lstStyle/>
          <a:p>
            <a:pPr algn="l" indent="0" marL="0">
              <a:lnSpc>
                <a:spcPts val="1820"/>
              </a:lnSpc>
              <a:spcAft>
                <a:spcPts val="1200"/>
              </a:spcAft>
              <a:buNone/>
            </a:pPr>
            <a:r>
              <a:rPr lang="en-US" sz="1400" dirty="0">
                <a:solidFill>
                  <a:srgbClr val="121212"/>
                </a:solidFill>
                <a:latin typeface="Instrument Sans" pitchFamily="34" charset="0"/>
                <a:ea typeface="Instrument Sans" pitchFamily="34" charset="-122"/>
                <a:cs typeface="Instrument Sans" pitchFamily="34" charset="-120"/>
              </a:rPr>
              <a:t>Risk is the chance a client leaves while they are still on the book. It is scored from the way they claim and the way they pay, so the intervention can happen before the exit.</a:t>
            </a:r>
            <a:endParaRPr lang="en-US" sz="1400" dirty="0"/>
          </a:p>
        </p:txBody>
      </p:sp>
      <p:sp>
        <p:nvSpPr>
          <p:cNvPr id="6" name="Text 4"/>
          <p:cNvSpPr/>
          <p:nvPr/>
        </p:nvSpPr>
        <p:spPr>
          <a:xfrm>
            <a:off x="507950" y="1989237"/>
            <a:ext cx="8127950" cy="2094012"/>
          </a:xfrm>
          <a:prstGeom prst="rect">
            <a:avLst/>
          </a:prstGeom>
          <a:noFill/>
          <a:ln/>
        </p:spPr>
        <p:txBody>
          <a:bodyPr wrap="square" lIns="114300" tIns="0" rIns="0" bIns="0" rtlCol="0" anchor="t"/>
          <a:lstStyle/>
          <a:p>
            <a:pPr algn="l" marL="114300" indent="-114300">
              <a:lnSpc>
                <a:spcPts val="1625"/>
              </a:lnSpc>
              <a:spcAft>
                <a:spcPts val="500"/>
              </a:spcAft>
              <a:buSzPct val="100000"/>
              <a:buChar char="•"/>
            </a:pPr>
            <a:r>
              <a:rPr lang="en-US" sz="1300" dirty="0">
                <a:solidFill>
                  <a:srgbClr val="121212"/>
                </a:solidFill>
                <a:latin typeface="Instrument Sans" pitchFamily="34" charset="0"/>
                <a:ea typeface="Instrument Sans" pitchFamily="34" charset="-122"/>
                <a:cs typeface="Instrument Sans" pitchFamily="34" charset="-120"/>
              </a:rPr>
              <a:t>Claim frequency</a:t>
            </a:r>
            <a:endParaRPr lang="en-US" sz="1300" dirty="0"/>
          </a:p>
          <a:p>
            <a:pPr algn="l" marL="114300" indent="-114300">
              <a:lnSpc>
                <a:spcPts val="1625"/>
              </a:lnSpc>
              <a:spcAft>
                <a:spcPts val="500"/>
              </a:spcAft>
              <a:buSzPct val="100000"/>
              <a:buChar char="•"/>
            </a:pPr>
            <a:r>
              <a:rPr lang="en-US" sz="1300" dirty="0">
                <a:solidFill>
                  <a:srgbClr val="121212"/>
                </a:solidFill>
                <a:latin typeface="Instrument Sans" pitchFamily="34" charset="0"/>
                <a:ea typeface="Instrument Sans" pitchFamily="34" charset="-122"/>
                <a:cs typeface="Instrument Sans" pitchFamily="34" charset="-120"/>
              </a:rPr>
              <a:t>Sentiment around claims</a:t>
            </a:r>
            <a:endParaRPr lang="en-US" sz="1300" dirty="0"/>
          </a:p>
          <a:p>
            <a:pPr algn="l" marL="114300" indent="-114300">
              <a:lnSpc>
                <a:spcPts val="1625"/>
              </a:lnSpc>
              <a:spcAft>
                <a:spcPts val="500"/>
              </a:spcAft>
              <a:buSzPct val="100000"/>
              <a:buChar char="•"/>
            </a:pPr>
            <a:r>
              <a:rPr lang="en-US" sz="1300" dirty="0">
                <a:solidFill>
                  <a:srgbClr val="121212"/>
                </a:solidFill>
                <a:latin typeface="Instrument Sans" pitchFamily="34" charset="0"/>
                <a:ea typeface="Instrument Sans" pitchFamily="34" charset="-122"/>
                <a:cs typeface="Instrument Sans" pitchFamily="34" charset="-120"/>
              </a:rPr>
              <a:t>Renewal premium shock</a:t>
            </a:r>
            <a:endParaRPr lang="en-US" sz="1300" dirty="0"/>
          </a:p>
          <a:p>
            <a:pPr algn="l" marL="114300" indent="-114300">
              <a:lnSpc>
                <a:spcPts val="1625"/>
              </a:lnSpc>
              <a:spcAft>
                <a:spcPts val="500"/>
              </a:spcAft>
              <a:buSzPct val="100000"/>
              <a:buChar char="•"/>
            </a:pPr>
            <a:r>
              <a:rPr lang="en-US" sz="1300" dirty="0">
                <a:solidFill>
                  <a:srgbClr val="121212"/>
                </a:solidFill>
                <a:latin typeface="Instrument Sans" pitchFamily="34" charset="0"/>
                <a:ea typeface="Instrument Sans" pitchFamily="34" charset="-122"/>
                <a:cs typeface="Instrument Sans" pitchFamily="34" charset="-120"/>
              </a:rPr>
              <a:t>Seasonal pressure in the rainy and school-fee months</a:t>
            </a:r>
            <a:endParaRPr lang="en-US" sz="1300" dirty="0"/>
          </a:p>
          <a:p>
            <a:pPr algn="l" marL="114300" indent="-114300">
              <a:lnSpc>
                <a:spcPts val="1625"/>
              </a:lnSpc>
              <a:spcAft>
                <a:spcPts val="500"/>
              </a:spcAft>
              <a:buSzPct val="100000"/>
              <a:buChar char="•"/>
            </a:pPr>
            <a:r>
              <a:rPr lang="en-US" sz="1300" dirty="0">
                <a:solidFill>
                  <a:srgbClr val="121212"/>
                </a:solidFill>
                <a:latin typeface="Instrument Sans" pitchFamily="34" charset="0"/>
                <a:ea typeface="Instrument Sans" pitchFamily="34" charset="-122"/>
                <a:cs typeface="Instrument Sans" pitchFamily="34" charset="-120"/>
              </a:rPr>
              <a:t>Premiums paid from outside the country</a:t>
            </a:r>
            <a:endParaRPr lang="en-US" sz="1300" dirty="0"/>
          </a:p>
          <a:p>
            <a:pPr algn="l" marL="114300" indent="-114300">
              <a:lnSpc>
                <a:spcPts val="1625"/>
              </a:lnSpc>
              <a:spcAft>
                <a:spcPts val="500"/>
              </a:spcAft>
              <a:buSzPct val="100000"/>
              <a:buChar char="•"/>
            </a:pPr>
            <a:r>
              <a:rPr lang="en-US" sz="1300" dirty="0">
                <a:solidFill>
                  <a:srgbClr val="121212"/>
                </a:solidFill>
                <a:latin typeface="Instrument Sans" pitchFamily="34" charset="0"/>
                <a:ea typeface="Instrument Sans" pitchFamily="34" charset="-122"/>
                <a:cs typeface="Instrument Sans" pitchFamily="34" charset="-120"/>
              </a:rPr>
              <a:t>Days late</a:t>
            </a:r>
            <a:endParaRPr lang="en-US" sz="1300" dirty="0"/>
          </a:p>
          <a:p>
            <a:pPr algn="l" marL="114300" indent="-114300">
              <a:lnSpc>
                <a:spcPts val="1625"/>
              </a:lnSpc>
              <a:spcAft>
                <a:spcPts val="500"/>
              </a:spcAft>
              <a:buSzPct val="100000"/>
              <a:buChar char="•"/>
            </a:pPr>
            <a:r>
              <a:rPr lang="en-US" sz="1300" dirty="0">
                <a:solidFill>
                  <a:srgbClr val="121212"/>
                </a:solidFill>
                <a:latin typeface="Instrument Sans" pitchFamily="34" charset="0"/>
                <a:ea typeface="Instrument Sans" pitchFamily="34" charset="-122"/>
                <a:cs typeface="Instrument Sans" pitchFamily="34" charset="-120"/>
              </a:rPr>
              <a:t>Uneven gaps between the due date and the payment</a:t>
            </a:r>
            <a:endParaRPr lang="en-US" sz="1300" dirty="0"/>
          </a:p>
          <a:p>
            <a:pPr algn="l" marL="114300" indent="-114300">
              <a:lnSpc>
                <a:spcPts val="1625"/>
              </a:lnSpc>
              <a:spcAft>
                <a:spcPts val="500"/>
              </a:spcAft>
              <a:buSzPct val="100000"/>
              <a:buChar char="•"/>
            </a:pPr>
            <a:r>
              <a:rPr lang="en-US" sz="1300" dirty="0">
                <a:solidFill>
                  <a:srgbClr val="121212"/>
                </a:solidFill>
                <a:latin typeface="Instrument Sans" pitchFamily="34" charset="0"/>
                <a:ea typeface="Instrument Sans" pitchFamily="34" charset="-122"/>
                <a:cs typeface="Instrument Sans" pitchFamily="34" charset="-120"/>
              </a:rPr>
              <a:t>Cash or a diaspora transfer as the usual channel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B"/>
        </a:solidFill>
      </p:bgPr>
    </p:bg>
    <p:spTree>
      <p:nvGrpSpPr>
        <p:cNvPr id="1" name=""/>
        <p:cNvGrpSpPr/>
        <p:nvPr/>
      </p:nvGrpSpPr>
      <p:grpSpPr>
        <a:xfrm>
          <a:off x="0" y="0"/>
          <a:ext cx="0" cy="0"/>
          <a:chOff x="0" y="0"/>
          <a:chExt cx="0" cy="0"/>
        </a:xfrm>
      </p:grpSpPr>
      <p:sp>
        <p:nvSpPr>
          <p:cNvPr id="2" name="Text 0"/>
          <p:cNvSpPr/>
          <p:nvPr/>
        </p:nvSpPr>
        <p:spPr>
          <a:xfrm>
            <a:off x="507950" y="406301"/>
            <a:ext cx="8290509" cy="171450"/>
          </a:xfrm>
          <a:prstGeom prst="rect">
            <a:avLst/>
          </a:prstGeom>
          <a:noFill/>
          <a:ln/>
        </p:spPr>
        <p:txBody>
          <a:bodyPr wrap="square" lIns="0" tIns="0" rIns="0" bIns="0" rtlCol="0" anchor="t"/>
          <a:lstStyle/>
          <a:p>
            <a:pPr algn="l" indent="0" marL="0">
              <a:spcAft>
                <a:spcPts val="800"/>
              </a:spcAft>
              <a:buNone/>
            </a:pPr>
            <a:r>
              <a:rPr lang="en-US" sz="1100" b="1" dirty="0">
                <a:solidFill>
                  <a:srgbClr val="534C41"/>
                </a:solidFill>
                <a:latin typeface="Instrument Sans" pitchFamily="34" charset="0"/>
                <a:ea typeface="Instrument Sans" pitchFamily="34" charset="-122"/>
                <a:cs typeface="Instrument Sans" pitchFamily="34" charset="-120"/>
              </a:rPr>
              <a:t>VALUE</a:t>
            </a:r>
            <a:endParaRPr lang="en-US" sz="1100" dirty="0"/>
          </a:p>
        </p:txBody>
      </p:sp>
      <p:sp>
        <p:nvSpPr>
          <p:cNvPr id="3" name="Text 1"/>
          <p:cNvSpPr/>
          <p:nvPr/>
        </p:nvSpPr>
        <p:spPr>
          <a:xfrm>
            <a:off x="507950" y="679252"/>
            <a:ext cx="8290509" cy="428625"/>
          </a:xfrm>
          <a:prstGeom prst="rect">
            <a:avLst/>
          </a:prstGeom>
          <a:noFill/>
          <a:ln/>
        </p:spPr>
        <p:txBody>
          <a:bodyPr wrap="square" lIns="0" tIns="0" rIns="0" bIns="0" rtlCol="0" anchor="t"/>
          <a:lstStyle/>
          <a:p>
            <a:pPr algn="l" indent="0" marL="0">
              <a:spcAft>
                <a:spcPts val="1200"/>
              </a:spcAft>
              <a:buNone/>
            </a:pPr>
            <a:r>
              <a:rPr lang="en-US" sz="2800" b="1" dirty="0">
                <a:solidFill>
                  <a:srgbClr val="121212"/>
                </a:solidFill>
                <a:latin typeface="Instrument Sans" pitchFamily="34" charset="0"/>
                <a:ea typeface="Instrument Sans" pitchFamily="34" charset="-122"/>
                <a:cs typeface="Instrument Sans" pitchFamily="34" charset="-120"/>
              </a:rPr>
              <a:t>What the client is worth to keep.</a:t>
            </a:r>
            <a:endParaRPr lang="en-US" sz="2800" dirty="0"/>
          </a:p>
        </p:txBody>
      </p:sp>
      <p:sp>
        <p:nvSpPr>
          <p:cNvPr id="4" name="Text 2"/>
          <p:cNvSpPr/>
          <p:nvPr/>
        </p:nvSpPr>
        <p:spPr>
          <a:xfrm>
            <a:off x="507950" y="1260277"/>
            <a:ext cx="609600" cy="63401"/>
          </a:xfrm>
          <a:prstGeom prst="roundRect">
            <a:avLst>
              <a:gd name="adj" fmla="val 60094"/>
            </a:avLst>
          </a:prstGeom>
          <a:solidFill>
            <a:srgbClr val="EBC831"/>
          </a:solidFill>
          <a:ln/>
        </p:spPr>
        <p:txBody>
          <a:bodyPr wrap="square" rtlCol="0" anchor="ctr"/>
          <a:lstStyle/>
          <a:p>
            <a:pPr indent="0" marL="0">
              <a:buNone/>
            </a:pPr>
            <a:endParaRPr lang="en-US" dirty="0"/>
          </a:p>
        </p:txBody>
      </p:sp>
      <p:sp>
        <p:nvSpPr>
          <p:cNvPr id="5" name="Text 3"/>
          <p:cNvSpPr/>
          <p:nvPr/>
        </p:nvSpPr>
        <p:spPr>
          <a:xfrm>
            <a:off x="507950" y="1501378"/>
            <a:ext cx="8290509" cy="495300"/>
          </a:xfrm>
          <a:prstGeom prst="rect">
            <a:avLst/>
          </a:prstGeom>
          <a:noFill/>
          <a:ln/>
        </p:spPr>
        <p:txBody>
          <a:bodyPr wrap="square" lIns="0" tIns="0" rIns="0" bIns="0" rtlCol="0" anchor="t"/>
          <a:lstStyle/>
          <a:p>
            <a:pPr algn="l" indent="0" marL="0">
              <a:lnSpc>
                <a:spcPts val="1950"/>
              </a:lnSpc>
              <a:spcAft>
                <a:spcPts val="1400"/>
              </a:spcAft>
              <a:buNone/>
            </a:pPr>
            <a:r>
              <a:rPr lang="en-US" sz="1500" dirty="0">
                <a:solidFill>
                  <a:srgbClr val="121212"/>
                </a:solidFill>
                <a:latin typeface="Instrument Sans" pitchFamily="34" charset="0"/>
                <a:ea typeface="Instrument Sans" pitchFamily="34" charset="-122"/>
                <a:cs typeface="Instrument Sans" pitchFamily="34" charset="-120"/>
              </a:rPr>
              <a:t>Value is what the relationship is worth to keep and to grow. It is scored from the book they hold, not from a single premium, so the costly save goes to the client it is worth spending on.</a:t>
            </a:r>
            <a:endParaRPr lang="en-US" sz="1500" dirty="0"/>
          </a:p>
        </p:txBody>
      </p:sp>
      <p:sp>
        <p:nvSpPr>
          <p:cNvPr id="6" name="Text 4"/>
          <p:cNvSpPr/>
          <p:nvPr/>
        </p:nvSpPr>
        <p:spPr>
          <a:xfrm>
            <a:off x="507950" y="2174379"/>
            <a:ext cx="8127950" cy="1726109"/>
          </a:xfrm>
          <a:prstGeom prst="rect">
            <a:avLst/>
          </a:prstGeom>
          <a:noFill/>
          <a:ln/>
        </p:spPr>
        <p:txBody>
          <a:bodyPr wrap="square" lIns="114300" tIns="0" rIns="0" bIns="0" rtlCol="0" anchor="t"/>
          <a:lstStyle/>
          <a:p>
            <a:pPr algn="l" marL="114300" indent="-114300">
              <a:lnSpc>
                <a:spcPts val="2080"/>
              </a:lnSpc>
              <a:spcAft>
                <a:spcPts val="800"/>
              </a:spcAft>
              <a:buSzPct val="100000"/>
              <a:buChar char="•"/>
            </a:pPr>
            <a:r>
              <a:rPr lang="en-US" sz="1600" dirty="0">
                <a:solidFill>
                  <a:srgbClr val="121212"/>
                </a:solidFill>
                <a:latin typeface="Instrument Sans" pitchFamily="34" charset="0"/>
                <a:ea typeface="Instrument Sans" pitchFamily="34" charset="-122"/>
                <a:cs typeface="Instrument Sans" pitchFamily="34" charset="-120"/>
              </a:rPr>
              <a:t>Multi-line policy density</a:t>
            </a:r>
            <a:endParaRPr lang="en-US" sz="1600" dirty="0"/>
          </a:p>
          <a:p>
            <a:pPr algn="l" marL="114300" indent="-114300">
              <a:lnSpc>
                <a:spcPts val="2080"/>
              </a:lnSpc>
              <a:spcAft>
                <a:spcPts val="800"/>
              </a:spcAft>
              <a:buSzPct val="100000"/>
              <a:buChar char="•"/>
            </a:pPr>
            <a:r>
              <a:rPr lang="en-US" sz="1600" dirty="0">
                <a:solidFill>
                  <a:srgbClr val="121212"/>
                </a:solidFill>
                <a:latin typeface="Instrument Sans" pitchFamily="34" charset="0"/>
                <a:ea typeface="Instrument Sans" pitchFamily="34" charset="-122"/>
                <a:cs typeface="Instrument Sans" pitchFamily="34" charset="-120"/>
              </a:rPr>
              <a:t>Claim-to-premium ratio</a:t>
            </a:r>
            <a:endParaRPr lang="en-US" sz="1600" dirty="0"/>
          </a:p>
          <a:p>
            <a:pPr algn="l" marL="114300" indent="-114300">
              <a:lnSpc>
                <a:spcPts val="2080"/>
              </a:lnSpc>
              <a:spcAft>
                <a:spcPts val="800"/>
              </a:spcAft>
              <a:buSzPct val="100000"/>
              <a:buChar char="•"/>
            </a:pPr>
            <a:r>
              <a:rPr lang="en-US" sz="1600" dirty="0">
                <a:solidFill>
                  <a:srgbClr val="121212"/>
                </a:solidFill>
                <a:latin typeface="Instrument Sans" pitchFamily="34" charset="0"/>
                <a:ea typeface="Instrument Sans" pitchFamily="34" charset="-122"/>
                <a:cs typeface="Instrument Sans" pitchFamily="34" charset="-120"/>
              </a:rPr>
              <a:t>Corporate affinity-group linkage</a:t>
            </a:r>
            <a:endParaRPr lang="en-US" sz="1600" dirty="0"/>
          </a:p>
          <a:p>
            <a:pPr algn="l" marL="114300" indent="-114300">
              <a:lnSpc>
                <a:spcPts val="2080"/>
              </a:lnSpc>
              <a:spcAft>
                <a:spcPts val="800"/>
              </a:spcAft>
              <a:buSzPct val="100000"/>
              <a:buChar char="•"/>
            </a:pPr>
            <a:r>
              <a:rPr lang="en-US" sz="1600" dirty="0">
                <a:solidFill>
                  <a:srgbClr val="121212"/>
                </a:solidFill>
                <a:latin typeface="Instrument Sans" pitchFamily="34" charset="0"/>
                <a:ea typeface="Instrument Sans" pitchFamily="34" charset="-122"/>
                <a:cs typeface="Instrument Sans" pitchFamily="34" charset="-120"/>
              </a:rPr>
              <a:t>Policy tenure and loyalty</a:t>
            </a:r>
            <a:endParaRPr lang="en-US" sz="1600" dirty="0"/>
          </a:p>
          <a:p>
            <a:pPr algn="l" marL="114300" indent="-114300">
              <a:lnSpc>
                <a:spcPts val="2080"/>
              </a:lnSpc>
              <a:spcAft>
                <a:spcPts val="800"/>
              </a:spcAft>
              <a:buSzPct val="100000"/>
              <a:buChar char="•"/>
            </a:pPr>
            <a:r>
              <a:rPr lang="en-US" sz="1600" dirty="0">
                <a:solidFill>
                  <a:srgbClr val="121212"/>
                </a:solidFill>
                <a:latin typeface="Instrument Sans" pitchFamily="34" charset="0"/>
                <a:ea typeface="Instrument Sans" pitchFamily="34" charset="-122"/>
                <a:cs typeface="Instrument Sans" pitchFamily="34" charset="-120"/>
              </a:rPr>
              <a:t>Total annualised premium volume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CustomerIQ</dc:title>
  <dc:subject>Profile the client. Intervene before they leave.</dc:subject>
  <dc:creator>CustomerIQ</dc:creator>
  <cp:lastModifiedBy>CustomerIQ</cp:lastModifiedBy>
  <cp:revision>1</cp:revision>
  <dcterms:created xsi:type="dcterms:W3CDTF">2026-09-24T23:19:38Z</dcterms:created>
  <dcterms:modified xsi:type="dcterms:W3CDTF">2026-09-24T23:19:38Z</dcterms:modified>
</cp:coreProperties>
</file>